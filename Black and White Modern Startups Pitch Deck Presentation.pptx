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Agrandir Bold" charset="1" panose="00000800000000000000"/>
      <p:regular r:id="rId18"/>
    </p:embeddedFont>
    <p:embeddedFont>
      <p:font typeface="Poppins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7.png" Type="http://schemas.openxmlformats.org/officeDocument/2006/relationships/image"/><Relationship Id="rId19" Target="../media/image8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jpe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7.png" Type="http://schemas.openxmlformats.org/officeDocument/2006/relationships/image"/><Relationship Id="rId2" Target="../media/image43.jpeg" Type="http://schemas.openxmlformats.org/officeDocument/2006/relationships/image"/><Relationship Id="rId20" Target="../media/image8.sv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jpe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63.jpe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69.png" Type="http://schemas.openxmlformats.org/officeDocument/2006/relationships/image"/><Relationship Id="rId12" Target="../media/image70.svg" Type="http://schemas.openxmlformats.org/officeDocument/2006/relationships/image"/><Relationship Id="rId13" Target="../media/image71.png" Type="http://schemas.openxmlformats.org/officeDocument/2006/relationships/image"/><Relationship Id="rId14" Target="../media/image72.svg" Type="http://schemas.openxmlformats.org/officeDocument/2006/relationships/image"/><Relationship Id="rId2" Target="../media/image64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jpeg" Type="http://schemas.openxmlformats.org/officeDocument/2006/relationships/image"/><Relationship Id="rId7" Target="../media/image78.jpe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81.jpeg" Type="http://schemas.openxmlformats.org/officeDocument/2006/relationships/image"/><Relationship Id="rId3" Target="../media/image82.jpe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2097" y="1584860"/>
            <a:ext cx="6759147" cy="4768501"/>
            <a:chOff x="0" y="0"/>
            <a:chExt cx="1230376" cy="86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0376" cy="868016"/>
            </a:xfrm>
            <a:custGeom>
              <a:avLst/>
              <a:gdLst/>
              <a:ahLst/>
              <a:cxnLst/>
              <a:rect r="r" b="b" t="t" l="l"/>
              <a:pathLst>
                <a:path h="868016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822200"/>
                  </a:lnTo>
                  <a:cubicBezTo>
                    <a:pt x="1230376" y="834352"/>
                    <a:pt x="1225549" y="846005"/>
                    <a:pt x="1216957" y="854597"/>
                  </a:cubicBezTo>
                  <a:cubicBezTo>
                    <a:pt x="1208365" y="863189"/>
                    <a:pt x="1196712" y="868016"/>
                    <a:pt x="1184560" y="868016"/>
                  </a:cubicBezTo>
                  <a:lnTo>
                    <a:pt x="45816" y="868016"/>
                  </a:lnTo>
                  <a:cubicBezTo>
                    <a:pt x="33665" y="868016"/>
                    <a:pt x="22011" y="863189"/>
                    <a:pt x="13419" y="854597"/>
                  </a:cubicBezTo>
                  <a:cubicBezTo>
                    <a:pt x="4827" y="846005"/>
                    <a:pt x="0" y="834352"/>
                    <a:pt x="0" y="822200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2"/>
              <a:stretch>
                <a:fillRect l="-2944" t="0" r="-294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627695" y="4661987"/>
            <a:ext cx="1394401" cy="1394401"/>
          </a:xfrm>
          <a:custGeom>
            <a:avLst/>
            <a:gdLst/>
            <a:ahLst/>
            <a:cxnLst/>
            <a:rect r="r" b="b" t="t" l="l"/>
            <a:pathLst>
              <a:path h="1394401" w="1394401">
                <a:moveTo>
                  <a:pt x="0" y="0"/>
                </a:moveTo>
                <a:lnTo>
                  <a:pt x="1394402" y="0"/>
                </a:lnTo>
                <a:lnTo>
                  <a:pt x="1394402" y="1394402"/>
                </a:lnTo>
                <a:lnTo>
                  <a:pt x="0" y="13944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99063">
            <a:off x="12653489" y="7083331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6180931" y="3678616"/>
                </a:moveTo>
                <a:lnTo>
                  <a:pt x="0" y="3678616"/>
                </a:lnTo>
                <a:lnTo>
                  <a:pt x="0" y="0"/>
                </a:lnTo>
                <a:lnTo>
                  <a:pt x="6180931" y="0"/>
                </a:lnTo>
                <a:lnTo>
                  <a:pt x="6180931" y="3678616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44000" y="5143500"/>
            <a:ext cx="5857975" cy="3232346"/>
            <a:chOff x="0" y="0"/>
            <a:chExt cx="1230376" cy="6789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0376" cy="678904"/>
            </a:xfrm>
            <a:custGeom>
              <a:avLst/>
              <a:gdLst/>
              <a:ahLst/>
              <a:cxnLst/>
              <a:rect r="r" b="b" t="t" l="l"/>
              <a:pathLst>
                <a:path h="678904" w="1230376">
                  <a:moveTo>
                    <a:pt x="52864" y="0"/>
                  </a:moveTo>
                  <a:lnTo>
                    <a:pt x="1177512" y="0"/>
                  </a:lnTo>
                  <a:cubicBezTo>
                    <a:pt x="1191533" y="0"/>
                    <a:pt x="1204979" y="5570"/>
                    <a:pt x="1214893" y="15484"/>
                  </a:cubicBezTo>
                  <a:cubicBezTo>
                    <a:pt x="1224807" y="25397"/>
                    <a:pt x="1230376" y="38844"/>
                    <a:pt x="1230376" y="52864"/>
                  </a:cubicBezTo>
                  <a:lnTo>
                    <a:pt x="1230376" y="626040"/>
                  </a:lnTo>
                  <a:cubicBezTo>
                    <a:pt x="1230376" y="640060"/>
                    <a:pt x="1224807" y="653506"/>
                    <a:pt x="1214893" y="663420"/>
                  </a:cubicBezTo>
                  <a:cubicBezTo>
                    <a:pt x="1204979" y="673334"/>
                    <a:pt x="1191533" y="678904"/>
                    <a:pt x="1177512" y="678904"/>
                  </a:cubicBezTo>
                  <a:lnTo>
                    <a:pt x="52864" y="678904"/>
                  </a:lnTo>
                  <a:cubicBezTo>
                    <a:pt x="38844" y="678904"/>
                    <a:pt x="25397" y="673334"/>
                    <a:pt x="15484" y="663420"/>
                  </a:cubicBezTo>
                  <a:cubicBezTo>
                    <a:pt x="5570" y="653506"/>
                    <a:pt x="0" y="640060"/>
                    <a:pt x="0" y="626040"/>
                  </a:cubicBezTo>
                  <a:lnTo>
                    <a:pt x="0" y="52864"/>
                  </a:lnTo>
                  <a:cubicBezTo>
                    <a:pt x="0" y="38844"/>
                    <a:pt x="5570" y="25397"/>
                    <a:pt x="15484" y="15484"/>
                  </a:cubicBezTo>
                  <a:cubicBezTo>
                    <a:pt x="25397" y="5570"/>
                    <a:pt x="38844" y="0"/>
                    <a:pt x="52864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0372" r="0" b="-10372"/>
              </a:stretch>
            </a:blipFill>
            <a:ln w="152400" cap="rnd">
              <a:solidFill>
                <a:srgbClr val="E49E2D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-299063">
            <a:off x="-636033" y="-363807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0" y="0"/>
                </a:moveTo>
                <a:lnTo>
                  <a:pt x="6180931" y="0"/>
                </a:lnTo>
                <a:lnTo>
                  <a:pt x="6180931" y="3678616"/>
                </a:lnTo>
                <a:lnTo>
                  <a:pt x="0" y="3678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26398" y="8816975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5939" y="8816975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Avery Davis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471991" y="1183012"/>
            <a:ext cx="618506" cy="1633073"/>
          </a:xfrm>
          <a:custGeom>
            <a:avLst/>
            <a:gdLst/>
            <a:ahLst/>
            <a:cxnLst/>
            <a:rect r="r" b="b" t="t" l="l"/>
            <a:pathLst>
              <a:path h="1633073" w="618506">
                <a:moveTo>
                  <a:pt x="0" y="0"/>
                </a:moveTo>
                <a:lnTo>
                  <a:pt x="618506" y="0"/>
                </a:lnTo>
                <a:lnTo>
                  <a:pt x="618506" y="1633073"/>
                </a:lnTo>
                <a:lnTo>
                  <a:pt x="0" y="1633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6715" y="1028700"/>
            <a:ext cx="871092" cy="144126"/>
          </a:xfrm>
          <a:custGeom>
            <a:avLst/>
            <a:gdLst/>
            <a:ahLst/>
            <a:cxnLst/>
            <a:rect r="r" b="b" t="t" l="l"/>
            <a:pathLst>
              <a:path h="144126" w="871092">
                <a:moveTo>
                  <a:pt x="0" y="0"/>
                </a:moveTo>
                <a:lnTo>
                  <a:pt x="871092" y="0"/>
                </a:lnTo>
                <a:lnTo>
                  <a:pt x="871092" y="144126"/>
                </a:lnTo>
                <a:lnTo>
                  <a:pt x="0" y="144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1989782" y="7569734"/>
            <a:ext cx="45457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989782" y="3079719"/>
            <a:ext cx="6219219" cy="374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Inn</a:t>
            </a: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ovating the Future of Startups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9782" y="6803271"/>
            <a:ext cx="55880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Ideas Meet Execution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9782" y="1574734"/>
            <a:ext cx="531409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Pitch Deck Presentation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89782" y="8816975"/>
            <a:ext cx="45457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61345" y="4608670"/>
            <a:ext cx="8334446" cy="3315305"/>
            <a:chOff x="0" y="0"/>
            <a:chExt cx="1038683" cy="413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683" cy="413171"/>
            </a:xfrm>
            <a:custGeom>
              <a:avLst/>
              <a:gdLst/>
              <a:ahLst/>
              <a:cxnLst/>
              <a:rect r="r" b="b" t="t" l="l"/>
              <a:pathLst>
                <a:path h="413171" w="1038683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3745" r="0" b="-337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82752" y="8298035"/>
            <a:ext cx="473931" cy="47393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303421" y="8418705"/>
            <a:ext cx="232591" cy="232591"/>
          </a:xfrm>
          <a:custGeom>
            <a:avLst/>
            <a:gdLst/>
            <a:ahLst/>
            <a:cxnLst/>
            <a:rect r="r" b="b" t="t" l="l"/>
            <a:pathLst>
              <a:path h="232591" w="232591">
                <a:moveTo>
                  <a:pt x="0" y="0"/>
                </a:moveTo>
                <a:lnTo>
                  <a:pt x="232591" y="0"/>
                </a:lnTo>
                <a:lnTo>
                  <a:pt x="232591" y="232591"/>
                </a:lnTo>
                <a:lnTo>
                  <a:pt x="0" y="2325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09417" y="3036065"/>
            <a:ext cx="821282" cy="821282"/>
            <a:chOff x="0" y="0"/>
            <a:chExt cx="1095043" cy="109504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9E2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09417" y="4563419"/>
            <a:ext cx="821282" cy="821282"/>
            <a:chOff x="0" y="0"/>
            <a:chExt cx="1095043" cy="109504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9E2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309417" y="6090772"/>
            <a:ext cx="821282" cy="821282"/>
            <a:chOff x="0" y="0"/>
            <a:chExt cx="1095043" cy="109504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9E2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309417" y="7621122"/>
            <a:ext cx="821282" cy="821282"/>
            <a:chOff x="0" y="0"/>
            <a:chExt cx="1095043" cy="109504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49E2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83922" y="283922"/>
              <a:ext cx="527200" cy="527200"/>
            </a:xfrm>
            <a:custGeom>
              <a:avLst/>
              <a:gdLst/>
              <a:ahLst/>
              <a:cxnLst/>
              <a:rect r="r" b="b" t="t" l="l"/>
              <a:pathLst>
                <a:path h="527200" w="527200">
                  <a:moveTo>
                    <a:pt x="0" y="0"/>
                  </a:moveTo>
                  <a:lnTo>
                    <a:pt x="527199" y="0"/>
                  </a:lnTo>
                  <a:lnTo>
                    <a:pt x="52719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flipV="true">
            <a:off x="1870519" y="3446706"/>
            <a:ext cx="0" cy="1583570"/>
          </a:xfrm>
          <a:prstGeom prst="line">
            <a:avLst/>
          </a:prstGeom>
          <a:ln cap="rnd" w="19050">
            <a:solidFill>
              <a:srgbClr val="324464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9" id="29"/>
          <p:cNvSpPr/>
          <p:nvPr/>
        </p:nvSpPr>
        <p:spPr>
          <a:xfrm flipV="true">
            <a:off x="1870519" y="5012671"/>
            <a:ext cx="0" cy="1488742"/>
          </a:xfrm>
          <a:prstGeom prst="line">
            <a:avLst/>
          </a:prstGeom>
          <a:ln cap="rnd" w="19050">
            <a:solidFill>
              <a:srgbClr val="324464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1870519" y="6466113"/>
            <a:ext cx="0" cy="1565650"/>
          </a:xfrm>
          <a:prstGeom prst="line">
            <a:avLst/>
          </a:prstGeom>
          <a:ln cap="rnd" w="19050">
            <a:solidFill>
              <a:srgbClr val="324464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5822905" y="4065400"/>
            <a:ext cx="1174745" cy="1174745"/>
          </a:xfrm>
          <a:custGeom>
            <a:avLst/>
            <a:gdLst/>
            <a:ahLst/>
            <a:cxnLst/>
            <a:rect r="r" b="b" t="t" l="l"/>
            <a:pathLst>
              <a:path h="1174745" w="1174745">
                <a:moveTo>
                  <a:pt x="0" y="0"/>
                </a:moveTo>
                <a:lnTo>
                  <a:pt x="1174745" y="0"/>
                </a:lnTo>
                <a:lnTo>
                  <a:pt x="1174745" y="1174745"/>
                </a:lnTo>
                <a:lnTo>
                  <a:pt x="0" y="11747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4070471">
            <a:off x="-319545" y="8027850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4025433">
            <a:off x="15209554" y="-2840641"/>
            <a:ext cx="3126823" cy="6253645"/>
          </a:xfrm>
          <a:custGeom>
            <a:avLst/>
            <a:gdLst/>
            <a:ahLst/>
            <a:cxnLst/>
            <a:rect r="r" b="b" t="t" l="l"/>
            <a:pathLst>
              <a:path h="6253645" w="3126823">
                <a:moveTo>
                  <a:pt x="0" y="0"/>
                </a:moveTo>
                <a:lnTo>
                  <a:pt x="3126823" y="0"/>
                </a:lnTo>
                <a:lnTo>
                  <a:pt x="3126823" y="6253645"/>
                </a:lnTo>
                <a:lnTo>
                  <a:pt x="0" y="62536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186881" y="-269792"/>
            <a:ext cx="1592767" cy="1592767"/>
          </a:xfrm>
          <a:custGeom>
            <a:avLst/>
            <a:gdLst/>
            <a:ahLst/>
            <a:cxnLst/>
            <a:rect r="r" b="b" t="t" l="l"/>
            <a:pathLst>
              <a:path h="1592767" w="1592767">
                <a:moveTo>
                  <a:pt x="0" y="0"/>
                </a:moveTo>
                <a:lnTo>
                  <a:pt x="1592768" y="0"/>
                </a:lnTo>
                <a:lnTo>
                  <a:pt x="1592768" y="1592768"/>
                </a:lnTo>
                <a:lnTo>
                  <a:pt x="0" y="1592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0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782612" y="8297510"/>
            <a:ext cx="399035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50614" y="2876794"/>
            <a:ext cx="355237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Startups often fail due to lack of 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strategic guidance and sustainable funding.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50614" y="4404147"/>
            <a:ext cx="355237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Early-stage found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ers struggle with business model validation.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50614" y="5931500"/>
            <a:ext cx="355237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Limited access to mentorship, n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etworks, and investment opportunities.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50614" y="7461850"/>
            <a:ext cx="315602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High competition makes </a:t>
            </a:r>
            <a:r>
              <a:rPr lang="en-US" b="true" sz="200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scaling even more difficult.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61345" y="2713713"/>
            <a:ext cx="3931322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39140" y="1557115"/>
            <a:ext cx="39504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Keithston and Partners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6772966" y="9023543"/>
            <a:ext cx="1592767" cy="1592767"/>
          </a:xfrm>
          <a:custGeom>
            <a:avLst/>
            <a:gdLst/>
            <a:ahLst/>
            <a:cxnLst/>
            <a:rect r="r" b="b" t="t" l="l"/>
            <a:pathLst>
              <a:path h="1592767" w="1592767">
                <a:moveTo>
                  <a:pt x="0" y="0"/>
                </a:moveTo>
                <a:lnTo>
                  <a:pt x="1592767" y="0"/>
                </a:lnTo>
                <a:lnTo>
                  <a:pt x="1592767" y="1592767"/>
                </a:lnTo>
                <a:lnTo>
                  <a:pt x="0" y="15927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0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 flipV="true">
            <a:off x="1028700" y="9258300"/>
            <a:ext cx="16230600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60256">
            <a:off x="12573134" y="-414244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6180931" y="0"/>
                </a:moveTo>
                <a:lnTo>
                  <a:pt x="0" y="0"/>
                </a:lnTo>
                <a:lnTo>
                  <a:pt x="0" y="3678617"/>
                </a:lnTo>
                <a:lnTo>
                  <a:pt x="6180931" y="3678617"/>
                </a:lnTo>
                <a:lnTo>
                  <a:pt x="6180931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26387" y="2408913"/>
            <a:ext cx="6893492" cy="3748378"/>
            <a:chOff x="0" y="0"/>
            <a:chExt cx="1064690" cy="5789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4690" cy="578931"/>
            </a:xfrm>
            <a:custGeom>
              <a:avLst/>
              <a:gdLst/>
              <a:ahLst/>
              <a:cxnLst/>
              <a:rect r="r" b="b" t="t" l="l"/>
              <a:pathLst>
                <a:path h="578931" w="1064690">
                  <a:moveTo>
                    <a:pt x="56154" y="0"/>
                  </a:moveTo>
                  <a:lnTo>
                    <a:pt x="1008536" y="0"/>
                  </a:lnTo>
                  <a:cubicBezTo>
                    <a:pt x="1023429" y="0"/>
                    <a:pt x="1037712" y="5916"/>
                    <a:pt x="1048243" y="16447"/>
                  </a:cubicBezTo>
                  <a:cubicBezTo>
                    <a:pt x="1058774" y="26978"/>
                    <a:pt x="1064690" y="41261"/>
                    <a:pt x="1064690" y="56154"/>
                  </a:cubicBezTo>
                  <a:lnTo>
                    <a:pt x="1064690" y="522778"/>
                  </a:lnTo>
                  <a:cubicBezTo>
                    <a:pt x="1064690" y="553791"/>
                    <a:pt x="1039549" y="578931"/>
                    <a:pt x="1008536" y="578931"/>
                  </a:cubicBezTo>
                  <a:lnTo>
                    <a:pt x="56154" y="578931"/>
                  </a:lnTo>
                  <a:cubicBezTo>
                    <a:pt x="25141" y="578931"/>
                    <a:pt x="0" y="553791"/>
                    <a:pt x="0" y="522778"/>
                  </a:cubicBezTo>
                  <a:lnTo>
                    <a:pt x="0" y="56154"/>
                  </a:lnTo>
                  <a:cubicBezTo>
                    <a:pt x="0" y="25141"/>
                    <a:pt x="25141" y="0"/>
                    <a:pt x="5615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527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68120" y="1515034"/>
            <a:ext cx="6021078" cy="2945746"/>
            <a:chOff x="0" y="0"/>
            <a:chExt cx="929947" cy="454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9947" cy="454966"/>
            </a:xfrm>
            <a:custGeom>
              <a:avLst/>
              <a:gdLst/>
              <a:ahLst/>
              <a:cxnLst/>
              <a:rect r="r" b="b" t="t" l="l"/>
              <a:pathLst>
                <a:path h="454966" w="929947">
                  <a:moveTo>
                    <a:pt x="64290" y="0"/>
                  </a:moveTo>
                  <a:lnTo>
                    <a:pt x="865657" y="0"/>
                  </a:lnTo>
                  <a:cubicBezTo>
                    <a:pt x="901163" y="0"/>
                    <a:pt x="929947" y="28784"/>
                    <a:pt x="929947" y="64290"/>
                  </a:cubicBezTo>
                  <a:lnTo>
                    <a:pt x="929947" y="390676"/>
                  </a:lnTo>
                  <a:cubicBezTo>
                    <a:pt x="929947" y="407727"/>
                    <a:pt x="923173" y="424079"/>
                    <a:pt x="911117" y="436136"/>
                  </a:cubicBezTo>
                  <a:cubicBezTo>
                    <a:pt x="899060" y="448193"/>
                    <a:pt x="882707" y="454966"/>
                    <a:pt x="865657" y="454966"/>
                  </a:cubicBezTo>
                  <a:lnTo>
                    <a:pt x="64290" y="454966"/>
                  </a:lnTo>
                  <a:cubicBezTo>
                    <a:pt x="28784" y="454966"/>
                    <a:pt x="0" y="426183"/>
                    <a:pt x="0" y="390676"/>
                  </a:cubicBezTo>
                  <a:lnTo>
                    <a:pt x="0" y="64290"/>
                  </a:lnTo>
                  <a:cubicBezTo>
                    <a:pt x="0" y="28784"/>
                    <a:pt x="28784" y="0"/>
                    <a:pt x="642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090" r="0" b="-1809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268120" y="5578670"/>
            <a:ext cx="840985" cy="840985"/>
          </a:xfrm>
          <a:custGeom>
            <a:avLst/>
            <a:gdLst/>
            <a:ahLst/>
            <a:cxnLst/>
            <a:rect r="r" b="b" t="t" l="l"/>
            <a:pathLst>
              <a:path h="840985" w="840985">
                <a:moveTo>
                  <a:pt x="0" y="0"/>
                </a:moveTo>
                <a:lnTo>
                  <a:pt x="840985" y="0"/>
                </a:lnTo>
                <a:lnTo>
                  <a:pt x="840985" y="840985"/>
                </a:lnTo>
                <a:lnTo>
                  <a:pt x="0" y="840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68120" y="7463668"/>
            <a:ext cx="840985" cy="840985"/>
          </a:xfrm>
          <a:custGeom>
            <a:avLst/>
            <a:gdLst/>
            <a:ahLst/>
            <a:cxnLst/>
            <a:rect r="r" b="b" t="t" l="l"/>
            <a:pathLst>
              <a:path h="840985" w="840985">
                <a:moveTo>
                  <a:pt x="0" y="0"/>
                </a:moveTo>
                <a:lnTo>
                  <a:pt x="840985" y="0"/>
                </a:lnTo>
                <a:lnTo>
                  <a:pt x="840985" y="840984"/>
                </a:lnTo>
                <a:lnTo>
                  <a:pt x="0" y="8409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80176" y="5724904"/>
            <a:ext cx="416873" cy="548516"/>
          </a:xfrm>
          <a:custGeom>
            <a:avLst/>
            <a:gdLst/>
            <a:ahLst/>
            <a:cxnLst/>
            <a:rect r="r" b="b" t="t" l="l"/>
            <a:pathLst>
              <a:path h="548516" w="416873">
                <a:moveTo>
                  <a:pt x="0" y="0"/>
                </a:moveTo>
                <a:lnTo>
                  <a:pt x="416873" y="0"/>
                </a:lnTo>
                <a:lnTo>
                  <a:pt x="416873" y="548517"/>
                </a:lnTo>
                <a:lnTo>
                  <a:pt x="0" y="5485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80176" y="7609902"/>
            <a:ext cx="416873" cy="548516"/>
          </a:xfrm>
          <a:custGeom>
            <a:avLst/>
            <a:gdLst/>
            <a:ahLst/>
            <a:cxnLst/>
            <a:rect r="r" b="b" t="t" l="l"/>
            <a:pathLst>
              <a:path h="548516" w="416873">
                <a:moveTo>
                  <a:pt x="0" y="0"/>
                </a:moveTo>
                <a:lnTo>
                  <a:pt x="416873" y="0"/>
                </a:lnTo>
                <a:lnTo>
                  <a:pt x="416873" y="548516"/>
                </a:lnTo>
                <a:lnTo>
                  <a:pt x="0" y="5485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94269" y="6521169"/>
            <a:ext cx="1538843" cy="1884998"/>
          </a:xfrm>
          <a:custGeom>
            <a:avLst/>
            <a:gdLst/>
            <a:ahLst/>
            <a:cxnLst/>
            <a:rect r="r" b="b" t="t" l="l"/>
            <a:pathLst>
              <a:path h="1884998" w="1538843">
                <a:moveTo>
                  <a:pt x="0" y="0"/>
                </a:moveTo>
                <a:lnTo>
                  <a:pt x="1538844" y="0"/>
                </a:lnTo>
                <a:lnTo>
                  <a:pt x="1538844" y="1884997"/>
                </a:lnTo>
                <a:lnTo>
                  <a:pt x="0" y="1884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1425064"/>
            <a:ext cx="5047804" cy="577590"/>
          </a:xfrm>
          <a:custGeom>
            <a:avLst/>
            <a:gdLst/>
            <a:ahLst/>
            <a:cxnLst/>
            <a:rect r="r" b="b" t="t" l="l"/>
            <a:pathLst>
              <a:path h="577590" w="5047804">
                <a:moveTo>
                  <a:pt x="0" y="0"/>
                </a:moveTo>
                <a:lnTo>
                  <a:pt x="5047804" y="0"/>
                </a:lnTo>
                <a:lnTo>
                  <a:pt x="5047804" y="577590"/>
                </a:lnTo>
                <a:lnTo>
                  <a:pt x="0" y="5775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5413" t="-98033" r="-29504" b="-391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05136" y="1840328"/>
            <a:ext cx="683476" cy="649303"/>
          </a:xfrm>
          <a:custGeom>
            <a:avLst/>
            <a:gdLst/>
            <a:ahLst/>
            <a:cxnLst/>
            <a:rect r="r" b="b" t="t" l="l"/>
            <a:pathLst>
              <a:path h="649303" w="683476">
                <a:moveTo>
                  <a:pt x="0" y="0"/>
                </a:moveTo>
                <a:lnTo>
                  <a:pt x="683476" y="0"/>
                </a:lnTo>
                <a:lnTo>
                  <a:pt x="683476" y="649303"/>
                </a:lnTo>
                <a:lnTo>
                  <a:pt x="0" y="6493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51104" t="-53096" r="-287770" b="-17763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3063" y="1654473"/>
            <a:ext cx="517322" cy="491456"/>
          </a:xfrm>
          <a:custGeom>
            <a:avLst/>
            <a:gdLst/>
            <a:ahLst/>
            <a:cxnLst/>
            <a:rect r="r" b="b" t="t" l="l"/>
            <a:pathLst>
              <a:path h="491456" w="517322">
                <a:moveTo>
                  <a:pt x="0" y="0"/>
                </a:moveTo>
                <a:lnTo>
                  <a:pt x="517323" y="0"/>
                </a:lnTo>
                <a:lnTo>
                  <a:pt x="517323" y="491457"/>
                </a:lnTo>
                <a:lnTo>
                  <a:pt x="0" y="4914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451104" t="-53096" r="-287770" b="-17763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13155" y="6917445"/>
            <a:ext cx="4022510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72418" y="7314247"/>
            <a:ext cx="352898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Our platform bridge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the gap between innovation and execution.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72418" y="5076825"/>
            <a:ext cx="4916781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Keithston and Partners provides end-to-end startup 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support through strategic consulting, investor access, expert mentorship, and scalable growth solutions.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0695" y="1448359"/>
            <a:ext cx="39144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Keithston and Partners</a:t>
            </a:r>
          </a:p>
        </p:txBody>
      </p:sp>
      <p:sp>
        <p:nvSpPr>
          <p:cNvPr name="Freeform 19" id="19"/>
          <p:cNvSpPr/>
          <p:nvPr/>
        </p:nvSpPr>
        <p:spPr>
          <a:xfrm flipH="false" flipV="true" rot="0">
            <a:off x="-401853" y="7380923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0" y="3678616"/>
                </a:moveTo>
                <a:lnTo>
                  <a:pt x="6180931" y="3678616"/>
                </a:lnTo>
                <a:lnTo>
                  <a:pt x="6180931" y="0"/>
                </a:lnTo>
                <a:lnTo>
                  <a:pt x="0" y="0"/>
                </a:lnTo>
                <a:lnTo>
                  <a:pt x="0" y="3678616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663599" y="3166869"/>
            <a:ext cx="618506" cy="1633073"/>
          </a:xfrm>
          <a:custGeom>
            <a:avLst/>
            <a:gdLst/>
            <a:ahLst/>
            <a:cxnLst/>
            <a:rect r="r" b="b" t="t" l="l"/>
            <a:pathLst>
              <a:path h="1633073" w="618506">
                <a:moveTo>
                  <a:pt x="0" y="0"/>
                </a:moveTo>
                <a:lnTo>
                  <a:pt x="618506" y="0"/>
                </a:lnTo>
                <a:lnTo>
                  <a:pt x="618506" y="1633073"/>
                </a:lnTo>
                <a:lnTo>
                  <a:pt x="0" y="16330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10194" y="-1019055"/>
            <a:ext cx="618506" cy="1633073"/>
          </a:xfrm>
          <a:custGeom>
            <a:avLst/>
            <a:gdLst/>
            <a:ahLst/>
            <a:cxnLst/>
            <a:rect r="r" b="b" t="t" l="l"/>
            <a:pathLst>
              <a:path h="1633073" w="618506">
                <a:moveTo>
                  <a:pt x="0" y="0"/>
                </a:moveTo>
                <a:lnTo>
                  <a:pt x="618506" y="0"/>
                </a:lnTo>
                <a:lnTo>
                  <a:pt x="618506" y="1633073"/>
                </a:lnTo>
                <a:lnTo>
                  <a:pt x="0" y="163307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17581272" y="8936708"/>
            <a:ext cx="942464" cy="2488436"/>
          </a:xfrm>
          <a:custGeom>
            <a:avLst/>
            <a:gdLst/>
            <a:ahLst/>
            <a:cxnLst/>
            <a:rect r="r" b="b" t="t" l="l"/>
            <a:pathLst>
              <a:path h="2488436" w="942464">
                <a:moveTo>
                  <a:pt x="0" y="0"/>
                </a:moveTo>
                <a:lnTo>
                  <a:pt x="942464" y="0"/>
                </a:lnTo>
                <a:lnTo>
                  <a:pt x="942464" y="2488437"/>
                </a:lnTo>
                <a:lnTo>
                  <a:pt x="0" y="248843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>
            <a:off x="9144000" y="8834791"/>
            <a:ext cx="68758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99481" y="1597007"/>
            <a:ext cx="6614031" cy="3252566"/>
            <a:chOff x="0" y="0"/>
            <a:chExt cx="1004918" cy="4941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740" r="0" b="-177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99481" y="5437428"/>
            <a:ext cx="6614031" cy="3252566"/>
            <a:chOff x="0" y="0"/>
            <a:chExt cx="1004918" cy="4941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6255" r="0" b="-2625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-227155" y="7033590"/>
            <a:ext cx="2511711" cy="3312808"/>
          </a:xfrm>
          <a:custGeom>
            <a:avLst/>
            <a:gdLst/>
            <a:ahLst/>
            <a:cxnLst/>
            <a:rect r="r" b="b" t="t" l="l"/>
            <a:pathLst>
              <a:path h="3312808" w="2511711">
                <a:moveTo>
                  <a:pt x="0" y="0"/>
                </a:moveTo>
                <a:lnTo>
                  <a:pt x="2511710" y="0"/>
                </a:lnTo>
                <a:lnTo>
                  <a:pt x="2511710" y="3312807"/>
                </a:lnTo>
                <a:lnTo>
                  <a:pt x="0" y="3312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400000">
            <a:off x="16210312" y="-59397"/>
            <a:ext cx="2511711" cy="3312808"/>
          </a:xfrm>
          <a:custGeom>
            <a:avLst/>
            <a:gdLst/>
            <a:ahLst/>
            <a:cxnLst/>
            <a:rect r="r" b="b" t="t" l="l"/>
            <a:pathLst>
              <a:path h="3312808" w="2511711">
                <a:moveTo>
                  <a:pt x="2511711" y="3312807"/>
                </a:moveTo>
                <a:lnTo>
                  <a:pt x="0" y="3312807"/>
                </a:lnTo>
                <a:lnTo>
                  <a:pt x="0" y="0"/>
                </a:lnTo>
                <a:lnTo>
                  <a:pt x="2511711" y="0"/>
                </a:lnTo>
                <a:lnTo>
                  <a:pt x="2511711" y="3312807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49651" y="1372337"/>
            <a:ext cx="1506926" cy="224669"/>
          </a:xfrm>
          <a:custGeom>
            <a:avLst/>
            <a:gdLst/>
            <a:ahLst/>
            <a:cxnLst/>
            <a:rect r="r" b="b" t="t" l="l"/>
            <a:pathLst>
              <a:path h="224669" w="1506926">
                <a:moveTo>
                  <a:pt x="0" y="0"/>
                </a:moveTo>
                <a:lnTo>
                  <a:pt x="1506926" y="0"/>
                </a:lnTo>
                <a:lnTo>
                  <a:pt x="1506926" y="224670"/>
                </a:lnTo>
                <a:lnTo>
                  <a:pt x="0" y="224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3209" y="5177989"/>
            <a:ext cx="5621037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global startup ecosystem is valued at over $5 trillion, with rising demand for incubation and acceleration programs. Keithston and Partners targets early-stage tech startups in fintech, healthtech, and SaaS, starting with Southeast Asia and expanding globally to capture this growing market.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3209" y="2643306"/>
            <a:ext cx="605004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</a:t>
            </a: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Opportunity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49651" y="1028700"/>
            <a:ext cx="1506926" cy="224669"/>
          </a:xfrm>
          <a:custGeom>
            <a:avLst/>
            <a:gdLst/>
            <a:ahLst/>
            <a:cxnLst/>
            <a:rect r="r" b="b" t="t" l="l"/>
            <a:pathLst>
              <a:path h="224669" w="1506926">
                <a:moveTo>
                  <a:pt x="0" y="0"/>
                </a:moveTo>
                <a:lnTo>
                  <a:pt x="1506926" y="0"/>
                </a:lnTo>
                <a:lnTo>
                  <a:pt x="1506926" y="224669"/>
                </a:lnTo>
                <a:lnTo>
                  <a:pt x="0" y="22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49651" y="685063"/>
            <a:ext cx="1506926" cy="224669"/>
          </a:xfrm>
          <a:custGeom>
            <a:avLst/>
            <a:gdLst/>
            <a:ahLst/>
            <a:cxnLst/>
            <a:rect r="r" b="b" t="t" l="l"/>
            <a:pathLst>
              <a:path h="224669" w="1506926">
                <a:moveTo>
                  <a:pt x="0" y="0"/>
                </a:moveTo>
                <a:lnTo>
                  <a:pt x="1506926" y="0"/>
                </a:lnTo>
                <a:lnTo>
                  <a:pt x="1506926" y="224669"/>
                </a:lnTo>
                <a:lnTo>
                  <a:pt x="0" y="22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06497" y="10174665"/>
            <a:ext cx="1506926" cy="224669"/>
          </a:xfrm>
          <a:custGeom>
            <a:avLst/>
            <a:gdLst/>
            <a:ahLst/>
            <a:cxnLst/>
            <a:rect r="r" b="b" t="t" l="l"/>
            <a:pathLst>
              <a:path h="224669" w="1506926">
                <a:moveTo>
                  <a:pt x="0" y="0"/>
                </a:moveTo>
                <a:lnTo>
                  <a:pt x="1506926" y="0"/>
                </a:lnTo>
                <a:lnTo>
                  <a:pt x="1506926" y="224670"/>
                </a:lnTo>
                <a:lnTo>
                  <a:pt x="0" y="2246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506497" y="9831028"/>
            <a:ext cx="1506926" cy="224669"/>
          </a:xfrm>
          <a:custGeom>
            <a:avLst/>
            <a:gdLst/>
            <a:ahLst/>
            <a:cxnLst/>
            <a:rect r="r" b="b" t="t" l="l"/>
            <a:pathLst>
              <a:path h="224669" w="1506926">
                <a:moveTo>
                  <a:pt x="0" y="0"/>
                </a:moveTo>
                <a:lnTo>
                  <a:pt x="1506926" y="0"/>
                </a:lnTo>
                <a:lnTo>
                  <a:pt x="1506926" y="224669"/>
                </a:lnTo>
                <a:lnTo>
                  <a:pt x="0" y="22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329" y="1376824"/>
            <a:ext cx="7911712" cy="3912018"/>
            <a:chOff x="0" y="0"/>
            <a:chExt cx="1543938" cy="7634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3938" cy="763414"/>
            </a:xfrm>
            <a:custGeom>
              <a:avLst/>
              <a:gdLst/>
              <a:ahLst/>
              <a:cxnLst/>
              <a:rect r="r" b="b" t="t" l="l"/>
              <a:pathLst>
                <a:path h="763414" w="1543938">
                  <a:moveTo>
                    <a:pt x="58712" y="0"/>
                  </a:moveTo>
                  <a:lnTo>
                    <a:pt x="1485226" y="0"/>
                  </a:lnTo>
                  <a:cubicBezTo>
                    <a:pt x="1517651" y="0"/>
                    <a:pt x="1543938" y="26286"/>
                    <a:pt x="1543938" y="58712"/>
                  </a:cubicBezTo>
                  <a:lnTo>
                    <a:pt x="1543938" y="704702"/>
                  </a:lnTo>
                  <a:cubicBezTo>
                    <a:pt x="1543938" y="737128"/>
                    <a:pt x="1517651" y="763414"/>
                    <a:pt x="1485226" y="763414"/>
                  </a:cubicBezTo>
                  <a:lnTo>
                    <a:pt x="58712" y="763414"/>
                  </a:lnTo>
                  <a:cubicBezTo>
                    <a:pt x="26286" y="763414"/>
                    <a:pt x="0" y="737128"/>
                    <a:pt x="0" y="704702"/>
                  </a:cubicBezTo>
                  <a:lnTo>
                    <a:pt x="0" y="58712"/>
                  </a:lnTo>
                  <a:cubicBezTo>
                    <a:pt x="0" y="26286"/>
                    <a:pt x="26286" y="0"/>
                    <a:pt x="587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371" r="0" b="-173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14642" y="6213814"/>
            <a:ext cx="995232" cy="99523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48554" y="6213814"/>
            <a:ext cx="995232" cy="9952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9692" y="6213814"/>
            <a:ext cx="995232" cy="9952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63605" y="6213814"/>
            <a:ext cx="995232" cy="9952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52109" y="6436231"/>
            <a:ext cx="550398" cy="550398"/>
          </a:xfrm>
          <a:custGeom>
            <a:avLst/>
            <a:gdLst/>
            <a:ahLst/>
            <a:cxnLst/>
            <a:rect r="r" b="b" t="t" l="l"/>
            <a:pathLst>
              <a:path h="550398" w="550398">
                <a:moveTo>
                  <a:pt x="0" y="0"/>
                </a:moveTo>
                <a:lnTo>
                  <a:pt x="550398" y="0"/>
                </a:lnTo>
                <a:lnTo>
                  <a:pt x="550398" y="550397"/>
                </a:lnTo>
                <a:lnTo>
                  <a:pt x="0" y="5503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57942" y="6458369"/>
            <a:ext cx="546731" cy="537784"/>
          </a:xfrm>
          <a:custGeom>
            <a:avLst/>
            <a:gdLst/>
            <a:ahLst/>
            <a:cxnLst/>
            <a:rect r="r" b="b" t="t" l="l"/>
            <a:pathLst>
              <a:path h="537784" w="546731">
                <a:moveTo>
                  <a:pt x="0" y="0"/>
                </a:moveTo>
                <a:lnTo>
                  <a:pt x="546731" y="0"/>
                </a:lnTo>
                <a:lnTo>
                  <a:pt x="546731" y="537784"/>
                </a:lnTo>
                <a:lnTo>
                  <a:pt x="0" y="53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663389" y="6436231"/>
            <a:ext cx="595662" cy="559923"/>
          </a:xfrm>
          <a:custGeom>
            <a:avLst/>
            <a:gdLst/>
            <a:ahLst/>
            <a:cxnLst/>
            <a:rect r="r" b="b" t="t" l="l"/>
            <a:pathLst>
              <a:path h="559923" w="595662">
                <a:moveTo>
                  <a:pt x="0" y="0"/>
                </a:moveTo>
                <a:lnTo>
                  <a:pt x="595663" y="0"/>
                </a:lnTo>
                <a:lnTo>
                  <a:pt x="595663" y="559922"/>
                </a:lnTo>
                <a:lnTo>
                  <a:pt x="0" y="559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707247" y="6441598"/>
            <a:ext cx="477848" cy="539664"/>
          </a:xfrm>
          <a:custGeom>
            <a:avLst/>
            <a:gdLst/>
            <a:ahLst/>
            <a:cxnLst/>
            <a:rect r="r" b="b" t="t" l="l"/>
            <a:pathLst>
              <a:path h="539664" w="477848">
                <a:moveTo>
                  <a:pt x="0" y="0"/>
                </a:moveTo>
                <a:lnTo>
                  <a:pt x="477847" y="0"/>
                </a:lnTo>
                <a:lnTo>
                  <a:pt x="477847" y="539663"/>
                </a:lnTo>
                <a:lnTo>
                  <a:pt x="0" y="5396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08694" y="3171190"/>
            <a:ext cx="2826490" cy="2687735"/>
          </a:xfrm>
          <a:custGeom>
            <a:avLst/>
            <a:gdLst/>
            <a:ahLst/>
            <a:cxnLst/>
            <a:rect r="r" b="b" t="t" l="l"/>
            <a:pathLst>
              <a:path h="2687735" w="2826490">
                <a:moveTo>
                  <a:pt x="0" y="0"/>
                </a:moveTo>
                <a:lnTo>
                  <a:pt x="2826490" y="0"/>
                </a:lnTo>
                <a:lnTo>
                  <a:pt x="2826490" y="2687735"/>
                </a:lnTo>
                <a:lnTo>
                  <a:pt x="0" y="2687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15034" y="3056890"/>
            <a:ext cx="5189430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Pr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o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d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uct</a:t>
            </a:r>
          </a:p>
          <a:p>
            <a:pPr algn="l">
              <a:lnSpc>
                <a:spcPts val="7480"/>
              </a:lnSpc>
              <a:spcBef>
                <a:spcPct val="0"/>
              </a:spcBef>
            </a:pP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Service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5034" y="7874504"/>
            <a:ext cx="294156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curated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mentorship, funding access, and training.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48947" y="7874504"/>
            <a:ext cx="315775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direct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access to VCs, angels, and corporate partne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99984" y="7884029"/>
            <a:ext cx="3377463" cy="105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AI-p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owered 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tool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or busine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ss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modeling 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and mark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 va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lidati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9692" y="7376373"/>
            <a:ext cx="34824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Startup Accel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63605" y="7376373"/>
            <a:ext cx="335584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Investor 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etwork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14642" y="7376373"/>
            <a:ext cx="276927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Dig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ital Platfor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48554" y="7376373"/>
            <a:ext cx="330975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ommu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ity H</a:t>
            </a:r>
            <a:r>
              <a:rPr lang="en-US" b="true" sz="2400" strike="noStrike" u="none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33897" y="7884029"/>
            <a:ext cx="3501287" cy="105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netw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orki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ng event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s, 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hops,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nd par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tnership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opportu</a:t>
            </a:r>
            <a:r>
              <a:rPr lang="en-US" sz="1999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nities.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5034" y="1448359"/>
            <a:ext cx="398495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Keithston and Partners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389662" y="-77733"/>
            <a:ext cx="1592767" cy="1592767"/>
          </a:xfrm>
          <a:custGeom>
            <a:avLst/>
            <a:gdLst/>
            <a:ahLst/>
            <a:cxnLst/>
            <a:rect r="r" b="b" t="t" l="l"/>
            <a:pathLst>
              <a:path h="1592767" w="1592767">
                <a:moveTo>
                  <a:pt x="0" y="0"/>
                </a:moveTo>
                <a:lnTo>
                  <a:pt x="1592767" y="0"/>
                </a:lnTo>
                <a:lnTo>
                  <a:pt x="1592767" y="1592767"/>
                </a:lnTo>
                <a:lnTo>
                  <a:pt x="0" y="15927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0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758308" y="9052429"/>
            <a:ext cx="1592767" cy="1592767"/>
          </a:xfrm>
          <a:custGeom>
            <a:avLst/>
            <a:gdLst/>
            <a:ahLst/>
            <a:cxnLst/>
            <a:rect r="r" b="b" t="t" l="l"/>
            <a:pathLst>
              <a:path h="1592767" w="1592767">
                <a:moveTo>
                  <a:pt x="0" y="0"/>
                </a:moveTo>
                <a:lnTo>
                  <a:pt x="1592767" y="0"/>
                </a:lnTo>
                <a:lnTo>
                  <a:pt x="1592767" y="1592767"/>
                </a:lnTo>
                <a:lnTo>
                  <a:pt x="0" y="15927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0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4070471">
            <a:off x="-319545" y="8027850"/>
            <a:ext cx="3845468" cy="4114800"/>
          </a:xfrm>
          <a:custGeom>
            <a:avLst/>
            <a:gdLst/>
            <a:ahLst/>
            <a:cxnLst/>
            <a:rect r="r" b="b" t="t" l="l"/>
            <a:pathLst>
              <a:path h="4114800" w="3845468">
                <a:moveTo>
                  <a:pt x="0" y="0"/>
                </a:moveTo>
                <a:lnTo>
                  <a:pt x="3845468" y="0"/>
                </a:lnTo>
                <a:lnTo>
                  <a:pt x="3845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6999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4025433">
            <a:off x="16208584" y="-1963891"/>
            <a:ext cx="2101432" cy="4202864"/>
          </a:xfrm>
          <a:custGeom>
            <a:avLst/>
            <a:gdLst/>
            <a:ahLst/>
            <a:cxnLst/>
            <a:rect r="r" b="b" t="t" l="l"/>
            <a:pathLst>
              <a:path h="4202864" w="2101432">
                <a:moveTo>
                  <a:pt x="0" y="0"/>
                </a:moveTo>
                <a:lnTo>
                  <a:pt x="2101432" y="0"/>
                </a:lnTo>
                <a:lnTo>
                  <a:pt x="2101432" y="4202864"/>
                </a:lnTo>
                <a:lnTo>
                  <a:pt x="0" y="42028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7999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5400000">
            <a:off x="7654490" y="861049"/>
            <a:ext cx="457678" cy="1208432"/>
          </a:xfrm>
          <a:custGeom>
            <a:avLst/>
            <a:gdLst/>
            <a:ahLst/>
            <a:cxnLst/>
            <a:rect r="r" b="b" t="t" l="l"/>
            <a:pathLst>
              <a:path h="1208432" w="457678">
                <a:moveTo>
                  <a:pt x="0" y="0"/>
                </a:moveTo>
                <a:lnTo>
                  <a:pt x="457679" y="0"/>
                </a:lnTo>
                <a:lnTo>
                  <a:pt x="457679" y="1208432"/>
                </a:lnTo>
                <a:lnTo>
                  <a:pt x="0" y="120843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76381" y="0"/>
            <a:ext cx="6211619" cy="5143500"/>
          </a:xfrm>
          <a:custGeom>
            <a:avLst/>
            <a:gdLst/>
            <a:ahLst/>
            <a:cxnLst/>
            <a:rect r="r" b="b" t="t" l="l"/>
            <a:pathLst>
              <a:path h="5143500" w="6211619">
                <a:moveTo>
                  <a:pt x="0" y="0"/>
                </a:moveTo>
                <a:lnTo>
                  <a:pt x="6211619" y="0"/>
                </a:lnTo>
                <a:lnTo>
                  <a:pt x="6211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-60000" r="-3932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94516" y="1498415"/>
            <a:ext cx="7041302" cy="7759885"/>
            <a:chOff x="0" y="0"/>
            <a:chExt cx="1069836" cy="1179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535" r="0" b="-653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584314" y="5445673"/>
            <a:ext cx="5492067" cy="2862740"/>
            <a:chOff x="0" y="0"/>
            <a:chExt cx="1446470" cy="7539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6470" cy="753973"/>
            </a:xfrm>
            <a:custGeom>
              <a:avLst/>
              <a:gdLst/>
              <a:ahLst/>
              <a:cxnLst/>
              <a:rect r="r" b="b" t="t" l="l"/>
              <a:pathLst>
                <a:path h="753973" w="1446470">
                  <a:moveTo>
                    <a:pt x="71892" y="0"/>
                  </a:moveTo>
                  <a:lnTo>
                    <a:pt x="1374578" y="0"/>
                  </a:lnTo>
                  <a:cubicBezTo>
                    <a:pt x="1414283" y="0"/>
                    <a:pt x="1446470" y="32187"/>
                    <a:pt x="1446470" y="71892"/>
                  </a:cubicBezTo>
                  <a:lnTo>
                    <a:pt x="1446470" y="682080"/>
                  </a:lnTo>
                  <a:cubicBezTo>
                    <a:pt x="1446470" y="721785"/>
                    <a:pt x="1414283" y="753973"/>
                    <a:pt x="1374578" y="753973"/>
                  </a:cubicBezTo>
                  <a:lnTo>
                    <a:pt x="71892" y="753973"/>
                  </a:lnTo>
                  <a:cubicBezTo>
                    <a:pt x="52825" y="753973"/>
                    <a:pt x="34539" y="746398"/>
                    <a:pt x="21057" y="732916"/>
                  </a:cubicBezTo>
                  <a:cubicBezTo>
                    <a:pt x="7574" y="719433"/>
                    <a:pt x="0" y="701147"/>
                    <a:pt x="0" y="682080"/>
                  </a:cubicBezTo>
                  <a:lnTo>
                    <a:pt x="0" y="71892"/>
                  </a:lnTo>
                  <a:cubicBezTo>
                    <a:pt x="0" y="32187"/>
                    <a:pt x="32187" y="0"/>
                    <a:pt x="718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446470" cy="820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0642200">
            <a:off x="-1197187" y="7016847"/>
            <a:ext cx="6211619" cy="5143500"/>
          </a:xfrm>
          <a:custGeom>
            <a:avLst/>
            <a:gdLst/>
            <a:ahLst/>
            <a:cxnLst/>
            <a:rect r="r" b="b" t="t" l="l"/>
            <a:pathLst>
              <a:path h="5143500" w="6211619">
                <a:moveTo>
                  <a:pt x="0" y="0"/>
                </a:moveTo>
                <a:lnTo>
                  <a:pt x="6211619" y="0"/>
                </a:lnTo>
                <a:lnTo>
                  <a:pt x="621161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-60000" r="-3932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3639" y="1117538"/>
            <a:ext cx="761754" cy="761754"/>
          </a:xfrm>
          <a:custGeom>
            <a:avLst/>
            <a:gdLst/>
            <a:ahLst/>
            <a:cxnLst/>
            <a:rect r="r" b="b" t="t" l="l"/>
            <a:pathLst>
              <a:path h="761754" w="761754">
                <a:moveTo>
                  <a:pt x="0" y="0"/>
                </a:moveTo>
                <a:lnTo>
                  <a:pt x="761754" y="0"/>
                </a:lnTo>
                <a:lnTo>
                  <a:pt x="761754" y="761753"/>
                </a:lnTo>
                <a:lnTo>
                  <a:pt x="0" y="761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04121" y="7546659"/>
            <a:ext cx="761754" cy="761754"/>
          </a:xfrm>
          <a:custGeom>
            <a:avLst/>
            <a:gdLst/>
            <a:ahLst/>
            <a:cxnLst/>
            <a:rect r="r" b="b" t="t" l="l"/>
            <a:pathLst>
              <a:path h="761754" w="761754">
                <a:moveTo>
                  <a:pt x="0" y="0"/>
                </a:moveTo>
                <a:lnTo>
                  <a:pt x="761754" y="0"/>
                </a:lnTo>
                <a:lnTo>
                  <a:pt x="761754" y="761754"/>
                </a:lnTo>
                <a:lnTo>
                  <a:pt x="0" y="76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4779" y="6322408"/>
            <a:ext cx="6023552" cy="3964592"/>
          </a:xfrm>
          <a:custGeom>
            <a:avLst/>
            <a:gdLst/>
            <a:ahLst/>
            <a:cxnLst/>
            <a:rect r="r" b="b" t="t" l="l"/>
            <a:pathLst>
              <a:path h="3964592" w="6023552">
                <a:moveTo>
                  <a:pt x="0" y="0"/>
                </a:moveTo>
                <a:lnTo>
                  <a:pt x="6023551" y="0"/>
                </a:lnTo>
                <a:lnTo>
                  <a:pt x="6023551" y="3964592"/>
                </a:lnTo>
                <a:lnTo>
                  <a:pt x="0" y="3964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898240" y="5602280"/>
            <a:ext cx="4864216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Keithst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and Partners generates revenue through equity in supported startups, subscription fees for digital tools, corporate partnerships, and paid workshops, creating a scalable model with recurring income potential.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8539" y="2514600"/>
            <a:ext cx="4563117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</a:t>
            </a: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Model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449651" y="1052146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80"/>
                </a:lnTo>
                <a:lnTo>
                  <a:pt x="0" y="20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449651" y="745660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79"/>
                </a:lnTo>
                <a:lnTo>
                  <a:pt x="0" y="2003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449651" y="439173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80"/>
                </a:lnTo>
                <a:lnTo>
                  <a:pt x="0" y="20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76392" y="10201569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80"/>
                </a:lnTo>
                <a:lnTo>
                  <a:pt x="0" y="20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076392" y="9895083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80"/>
                </a:lnTo>
                <a:lnTo>
                  <a:pt x="0" y="20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076392" y="9588597"/>
            <a:ext cx="1344010" cy="200380"/>
          </a:xfrm>
          <a:custGeom>
            <a:avLst/>
            <a:gdLst/>
            <a:ahLst/>
            <a:cxnLst/>
            <a:rect r="r" b="b" t="t" l="l"/>
            <a:pathLst>
              <a:path h="200380" w="1344010">
                <a:moveTo>
                  <a:pt x="0" y="0"/>
                </a:moveTo>
                <a:lnTo>
                  <a:pt x="1344010" y="0"/>
                </a:lnTo>
                <a:lnTo>
                  <a:pt x="1344010" y="200380"/>
                </a:lnTo>
                <a:lnTo>
                  <a:pt x="0" y="200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7933" y="-436169"/>
            <a:ext cx="14932134" cy="6140458"/>
            <a:chOff x="0" y="0"/>
            <a:chExt cx="2268748" cy="932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8748" cy="932964"/>
            </a:xfrm>
            <a:custGeom>
              <a:avLst/>
              <a:gdLst/>
              <a:ahLst/>
              <a:cxnLst/>
              <a:rect r="r" b="b" t="t" l="l"/>
              <a:pathLst>
                <a:path h="932964" w="2268748">
                  <a:moveTo>
                    <a:pt x="26961" y="0"/>
                  </a:moveTo>
                  <a:lnTo>
                    <a:pt x="2241787" y="0"/>
                  </a:lnTo>
                  <a:cubicBezTo>
                    <a:pt x="2248938" y="0"/>
                    <a:pt x="2255795" y="2840"/>
                    <a:pt x="2260851" y="7897"/>
                  </a:cubicBezTo>
                  <a:cubicBezTo>
                    <a:pt x="2265907" y="12953"/>
                    <a:pt x="2268748" y="19810"/>
                    <a:pt x="2268748" y="26961"/>
                  </a:cubicBezTo>
                  <a:lnTo>
                    <a:pt x="2268748" y="906004"/>
                  </a:lnTo>
                  <a:cubicBezTo>
                    <a:pt x="2268748" y="913154"/>
                    <a:pt x="2265907" y="920012"/>
                    <a:pt x="2260851" y="925068"/>
                  </a:cubicBezTo>
                  <a:cubicBezTo>
                    <a:pt x="2255795" y="930124"/>
                    <a:pt x="2248938" y="932964"/>
                    <a:pt x="2241787" y="932964"/>
                  </a:cubicBezTo>
                  <a:lnTo>
                    <a:pt x="26961" y="932964"/>
                  </a:lnTo>
                  <a:cubicBezTo>
                    <a:pt x="19810" y="932964"/>
                    <a:pt x="12953" y="930124"/>
                    <a:pt x="7897" y="925068"/>
                  </a:cubicBezTo>
                  <a:cubicBezTo>
                    <a:pt x="2840" y="920012"/>
                    <a:pt x="0" y="913154"/>
                    <a:pt x="0" y="906004"/>
                  </a:cubicBezTo>
                  <a:lnTo>
                    <a:pt x="0" y="26961"/>
                  </a:lnTo>
                  <a:cubicBezTo>
                    <a:pt x="0" y="19810"/>
                    <a:pt x="2840" y="12953"/>
                    <a:pt x="7897" y="7897"/>
                  </a:cubicBezTo>
                  <a:cubicBezTo>
                    <a:pt x="12953" y="2840"/>
                    <a:pt x="19810" y="0"/>
                    <a:pt x="2696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754" r="0" b="-775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216411" y="9034180"/>
            <a:ext cx="1245111" cy="448240"/>
          </a:xfrm>
          <a:custGeom>
            <a:avLst/>
            <a:gdLst/>
            <a:ahLst/>
            <a:cxnLst/>
            <a:rect r="r" b="b" t="t" l="l"/>
            <a:pathLst>
              <a:path h="448240" w="1245111">
                <a:moveTo>
                  <a:pt x="0" y="0"/>
                </a:moveTo>
                <a:lnTo>
                  <a:pt x="1245111" y="0"/>
                </a:lnTo>
                <a:lnTo>
                  <a:pt x="1245111" y="448240"/>
                </a:lnTo>
                <a:lnTo>
                  <a:pt x="0" y="448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05504" y="6470367"/>
            <a:ext cx="532089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Keithst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and Partners has supported over 20 startups, facilitated more than $10M in funding, achieved a 90% MVP launch success rate, and built strategic partnerships with five major VC firms.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5504" y="3513736"/>
            <a:ext cx="4055992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16256" y="4600856"/>
            <a:ext cx="5047804" cy="577590"/>
          </a:xfrm>
          <a:custGeom>
            <a:avLst/>
            <a:gdLst/>
            <a:ahLst/>
            <a:cxnLst/>
            <a:rect r="r" b="b" t="t" l="l"/>
            <a:pathLst>
              <a:path h="577590" w="5047804">
                <a:moveTo>
                  <a:pt x="0" y="0"/>
                </a:moveTo>
                <a:lnTo>
                  <a:pt x="5047804" y="0"/>
                </a:lnTo>
                <a:lnTo>
                  <a:pt x="5047804" y="577590"/>
                </a:lnTo>
                <a:lnTo>
                  <a:pt x="0" y="5775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5413" t="-98033" r="-29504" b="-3914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05504" y="4643906"/>
            <a:ext cx="44693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Ideas Meet Execution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091703" y="6537042"/>
            <a:ext cx="8518364" cy="4122858"/>
            <a:chOff x="0" y="0"/>
            <a:chExt cx="2358905" cy="11417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8905" cy="1141702"/>
            </a:xfrm>
            <a:custGeom>
              <a:avLst/>
              <a:gdLst/>
              <a:ahLst/>
              <a:cxnLst/>
              <a:rect r="r" b="b" t="t" l="l"/>
              <a:pathLst>
                <a:path h="1141702" w="2358905">
                  <a:moveTo>
                    <a:pt x="47260" y="0"/>
                  </a:moveTo>
                  <a:lnTo>
                    <a:pt x="2311645" y="0"/>
                  </a:lnTo>
                  <a:cubicBezTo>
                    <a:pt x="2324179" y="0"/>
                    <a:pt x="2336200" y="4979"/>
                    <a:pt x="2345063" y="13842"/>
                  </a:cubicBezTo>
                  <a:cubicBezTo>
                    <a:pt x="2353926" y="22705"/>
                    <a:pt x="2358905" y="34726"/>
                    <a:pt x="2358905" y="47260"/>
                  </a:cubicBezTo>
                  <a:lnTo>
                    <a:pt x="2358905" y="1094442"/>
                  </a:lnTo>
                  <a:cubicBezTo>
                    <a:pt x="2358905" y="1106976"/>
                    <a:pt x="2353926" y="1118997"/>
                    <a:pt x="2345063" y="1127860"/>
                  </a:cubicBezTo>
                  <a:cubicBezTo>
                    <a:pt x="2336200" y="1136723"/>
                    <a:pt x="2324179" y="1141702"/>
                    <a:pt x="2311645" y="1141702"/>
                  </a:cubicBezTo>
                  <a:lnTo>
                    <a:pt x="47260" y="1141702"/>
                  </a:lnTo>
                  <a:cubicBezTo>
                    <a:pt x="34726" y="1141702"/>
                    <a:pt x="22705" y="1136723"/>
                    <a:pt x="13842" y="1127860"/>
                  </a:cubicBezTo>
                  <a:cubicBezTo>
                    <a:pt x="4979" y="1118997"/>
                    <a:pt x="0" y="1106976"/>
                    <a:pt x="0" y="1094442"/>
                  </a:cubicBezTo>
                  <a:lnTo>
                    <a:pt x="0" y="47260"/>
                  </a:lnTo>
                  <a:cubicBezTo>
                    <a:pt x="0" y="34726"/>
                    <a:pt x="4979" y="22705"/>
                    <a:pt x="13842" y="13842"/>
                  </a:cubicBezTo>
                  <a:cubicBezTo>
                    <a:pt x="22705" y="4979"/>
                    <a:pt x="34726" y="0"/>
                    <a:pt x="4726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8933" r="0" b="-18933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493278" y="5557842"/>
            <a:ext cx="1660260" cy="597694"/>
          </a:xfrm>
          <a:custGeom>
            <a:avLst/>
            <a:gdLst/>
            <a:ahLst/>
            <a:cxnLst/>
            <a:rect r="r" b="b" t="t" l="l"/>
            <a:pathLst>
              <a:path h="597694" w="1660260">
                <a:moveTo>
                  <a:pt x="0" y="0"/>
                </a:moveTo>
                <a:lnTo>
                  <a:pt x="1660260" y="0"/>
                </a:lnTo>
                <a:lnTo>
                  <a:pt x="1660260" y="597694"/>
                </a:lnTo>
                <a:lnTo>
                  <a:pt x="0" y="597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10072">
            <a:off x="-159113" y="-810608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0" y="0"/>
                </a:moveTo>
                <a:lnTo>
                  <a:pt x="6180931" y="0"/>
                </a:lnTo>
                <a:lnTo>
                  <a:pt x="6180931" y="3678616"/>
                </a:lnTo>
                <a:lnTo>
                  <a:pt x="0" y="3678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2205504" y="8617521"/>
            <a:ext cx="511409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82546" y="3076556"/>
            <a:ext cx="995232" cy="99523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46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07139" y="5403091"/>
            <a:ext cx="6908979" cy="5462396"/>
            <a:chOff x="0" y="0"/>
            <a:chExt cx="1070382" cy="8462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0382" cy="846268"/>
            </a:xfrm>
            <a:custGeom>
              <a:avLst/>
              <a:gdLst/>
              <a:ahLst/>
              <a:cxnLst/>
              <a:rect r="r" b="b" t="t" l="l"/>
              <a:pathLst>
                <a:path h="846268" w="1070382">
                  <a:moveTo>
                    <a:pt x="67234" y="0"/>
                  </a:moveTo>
                  <a:lnTo>
                    <a:pt x="1003148" y="0"/>
                  </a:lnTo>
                  <a:cubicBezTo>
                    <a:pt x="1020979" y="0"/>
                    <a:pt x="1038081" y="7084"/>
                    <a:pt x="1050689" y="19692"/>
                  </a:cubicBezTo>
                  <a:cubicBezTo>
                    <a:pt x="1063298" y="32301"/>
                    <a:pt x="1070382" y="49402"/>
                    <a:pt x="1070382" y="67234"/>
                  </a:cubicBezTo>
                  <a:lnTo>
                    <a:pt x="1070382" y="779035"/>
                  </a:lnTo>
                  <a:cubicBezTo>
                    <a:pt x="1070382" y="816167"/>
                    <a:pt x="1040280" y="846268"/>
                    <a:pt x="1003148" y="846268"/>
                  </a:cubicBezTo>
                  <a:lnTo>
                    <a:pt x="67234" y="846268"/>
                  </a:lnTo>
                  <a:cubicBezTo>
                    <a:pt x="49402" y="846268"/>
                    <a:pt x="32301" y="839185"/>
                    <a:pt x="19692" y="826576"/>
                  </a:cubicBezTo>
                  <a:cubicBezTo>
                    <a:pt x="7084" y="813967"/>
                    <a:pt x="0" y="796866"/>
                    <a:pt x="0" y="779035"/>
                  </a:cubicBezTo>
                  <a:lnTo>
                    <a:pt x="0" y="67234"/>
                  </a:lnTo>
                  <a:cubicBezTo>
                    <a:pt x="0" y="49402"/>
                    <a:pt x="7084" y="32301"/>
                    <a:pt x="19692" y="19692"/>
                  </a:cubicBezTo>
                  <a:cubicBezTo>
                    <a:pt x="32301" y="7084"/>
                    <a:pt x="49402" y="0"/>
                    <a:pt x="67234" y="0"/>
                  </a:cubicBezTo>
                  <a:close/>
                </a:path>
              </a:pathLst>
            </a:custGeom>
            <a:blipFill>
              <a:blip r:embed="rId2"/>
              <a:stretch>
                <a:fillRect l="-9333" t="0" r="-933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22407" y="3076556"/>
            <a:ext cx="995232" cy="99523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46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82546" y="6324311"/>
            <a:ext cx="995232" cy="99523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46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22407" y="6324311"/>
            <a:ext cx="995232" cy="99523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2446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61560" lIns="61560" bIns="61560" rIns="6156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42101" y="1329651"/>
            <a:ext cx="5047804" cy="577590"/>
          </a:xfrm>
          <a:custGeom>
            <a:avLst/>
            <a:gdLst/>
            <a:ahLst/>
            <a:cxnLst/>
            <a:rect r="r" b="b" t="t" l="l"/>
            <a:pathLst>
              <a:path h="577590" w="5047804">
                <a:moveTo>
                  <a:pt x="0" y="0"/>
                </a:moveTo>
                <a:lnTo>
                  <a:pt x="5047804" y="0"/>
                </a:lnTo>
                <a:lnTo>
                  <a:pt x="5047804" y="577590"/>
                </a:lnTo>
                <a:lnTo>
                  <a:pt x="0" y="5775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413" t="-98033" r="-29504" b="-3914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31202" y="3341264"/>
            <a:ext cx="377643" cy="510328"/>
          </a:xfrm>
          <a:custGeom>
            <a:avLst/>
            <a:gdLst/>
            <a:ahLst/>
            <a:cxnLst/>
            <a:rect r="r" b="b" t="t" l="l"/>
            <a:pathLst>
              <a:path h="510328" w="377643">
                <a:moveTo>
                  <a:pt x="0" y="0"/>
                </a:moveTo>
                <a:lnTo>
                  <a:pt x="377642" y="0"/>
                </a:lnTo>
                <a:lnTo>
                  <a:pt x="377642" y="510328"/>
                </a:lnTo>
                <a:lnTo>
                  <a:pt x="0" y="510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191340" y="3341264"/>
            <a:ext cx="377643" cy="510328"/>
          </a:xfrm>
          <a:custGeom>
            <a:avLst/>
            <a:gdLst/>
            <a:ahLst/>
            <a:cxnLst/>
            <a:rect r="r" b="b" t="t" l="l"/>
            <a:pathLst>
              <a:path h="510328" w="377643">
                <a:moveTo>
                  <a:pt x="0" y="0"/>
                </a:moveTo>
                <a:lnTo>
                  <a:pt x="377643" y="0"/>
                </a:lnTo>
                <a:lnTo>
                  <a:pt x="377643" y="510328"/>
                </a:lnTo>
                <a:lnTo>
                  <a:pt x="0" y="510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191340" y="6566763"/>
            <a:ext cx="377643" cy="510328"/>
          </a:xfrm>
          <a:custGeom>
            <a:avLst/>
            <a:gdLst/>
            <a:ahLst/>
            <a:cxnLst/>
            <a:rect r="r" b="b" t="t" l="l"/>
            <a:pathLst>
              <a:path h="510328" w="377643">
                <a:moveTo>
                  <a:pt x="0" y="0"/>
                </a:moveTo>
                <a:lnTo>
                  <a:pt x="377643" y="0"/>
                </a:lnTo>
                <a:lnTo>
                  <a:pt x="377643" y="510328"/>
                </a:lnTo>
                <a:lnTo>
                  <a:pt x="0" y="510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31202" y="6541934"/>
            <a:ext cx="377643" cy="510328"/>
          </a:xfrm>
          <a:custGeom>
            <a:avLst/>
            <a:gdLst/>
            <a:ahLst/>
            <a:cxnLst/>
            <a:rect r="r" b="b" t="t" l="l"/>
            <a:pathLst>
              <a:path h="510328" w="377643">
                <a:moveTo>
                  <a:pt x="0" y="0"/>
                </a:moveTo>
                <a:lnTo>
                  <a:pt x="377642" y="0"/>
                </a:lnTo>
                <a:lnTo>
                  <a:pt x="377642" y="510328"/>
                </a:lnTo>
                <a:lnTo>
                  <a:pt x="0" y="510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346548">
            <a:off x="-2089302" y="8929336"/>
            <a:ext cx="7315200" cy="3271889"/>
          </a:xfrm>
          <a:custGeom>
            <a:avLst/>
            <a:gdLst/>
            <a:ahLst/>
            <a:cxnLst/>
            <a:rect r="r" b="b" t="t" l="l"/>
            <a:pathLst>
              <a:path h="3271889" w="7315200">
                <a:moveTo>
                  <a:pt x="0" y="0"/>
                </a:moveTo>
                <a:lnTo>
                  <a:pt x="7315200" y="0"/>
                </a:lnTo>
                <a:lnTo>
                  <a:pt x="7315200" y="3271890"/>
                </a:lnTo>
                <a:lnTo>
                  <a:pt x="0" y="3271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711290">
            <a:off x="12837213" y="-1664569"/>
            <a:ext cx="7315200" cy="3271889"/>
          </a:xfrm>
          <a:custGeom>
            <a:avLst/>
            <a:gdLst/>
            <a:ahLst/>
            <a:cxnLst/>
            <a:rect r="r" b="b" t="t" l="l"/>
            <a:pathLst>
              <a:path h="3271889" w="7315200">
                <a:moveTo>
                  <a:pt x="0" y="0"/>
                </a:moveTo>
                <a:lnTo>
                  <a:pt x="7315200" y="0"/>
                </a:lnTo>
                <a:lnTo>
                  <a:pt x="7315200" y="3271890"/>
                </a:lnTo>
                <a:lnTo>
                  <a:pt x="0" y="3271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076074" y="1028700"/>
            <a:ext cx="914539" cy="151315"/>
          </a:xfrm>
          <a:custGeom>
            <a:avLst/>
            <a:gdLst/>
            <a:ahLst/>
            <a:cxnLst/>
            <a:rect r="r" b="b" t="t" l="l"/>
            <a:pathLst>
              <a:path h="151315" w="914539">
                <a:moveTo>
                  <a:pt x="0" y="0"/>
                </a:moveTo>
                <a:lnTo>
                  <a:pt x="914539" y="0"/>
                </a:lnTo>
                <a:lnTo>
                  <a:pt x="914539" y="151315"/>
                </a:lnTo>
                <a:lnTo>
                  <a:pt x="0" y="1513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494748" y="9635901"/>
            <a:ext cx="914539" cy="151315"/>
          </a:xfrm>
          <a:custGeom>
            <a:avLst/>
            <a:gdLst/>
            <a:ahLst/>
            <a:cxnLst/>
            <a:rect r="r" b="b" t="t" l="l"/>
            <a:pathLst>
              <a:path h="151315" w="914539">
                <a:moveTo>
                  <a:pt x="0" y="0"/>
                </a:moveTo>
                <a:lnTo>
                  <a:pt x="914539" y="0"/>
                </a:lnTo>
                <a:lnTo>
                  <a:pt x="914539" y="151315"/>
                </a:lnTo>
                <a:lnTo>
                  <a:pt x="0" y="1513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757393" y="5143500"/>
            <a:ext cx="970517" cy="963459"/>
          </a:xfrm>
          <a:custGeom>
            <a:avLst/>
            <a:gdLst/>
            <a:ahLst/>
            <a:cxnLst/>
            <a:rect r="r" b="b" t="t" l="l"/>
            <a:pathLst>
              <a:path h="963459" w="970517">
                <a:moveTo>
                  <a:pt x="0" y="0"/>
                </a:moveTo>
                <a:lnTo>
                  <a:pt x="970517" y="0"/>
                </a:lnTo>
                <a:lnTo>
                  <a:pt x="970517" y="963459"/>
                </a:lnTo>
                <a:lnTo>
                  <a:pt x="0" y="963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41354" y="956993"/>
            <a:ext cx="482383" cy="482383"/>
          </a:xfrm>
          <a:custGeom>
            <a:avLst/>
            <a:gdLst/>
            <a:ahLst/>
            <a:cxnLst/>
            <a:rect r="r" b="b" t="t" l="l"/>
            <a:pathLst>
              <a:path h="482383" w="482383">
                <a:moveTo>
                  <a:pt x="0" y="0"/>
                </a:moveTo>
                <a:lnTo>
                  <a:pt x="482383" y="0"/>
                </a:lnTo>
                <a:lnTo>
                  <a:pt x="482383" y="482383"/>
                </a:lnTo>
                <a:lnTo>
                  <a:pt x="0" y="4823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15034" y="4297209"/>
            <a:ext cx="364418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Hybrid model: con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sulting + acceleration + tech platform.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91430" y="4297209"/>
            <a:ext cx="337746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Strong netw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ork of investors and industry leaders.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84560" y="2495973"/>
            <a:ext cx="6388406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Competitive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 Advan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ta</a:t>
            </a:r>
            <a:r>
              <a:rPr lang="en-US" b="true" sz="6800" strike="noStrike" u="non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42101" y="7544963"/>
            <a:ext cx="304957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Data-d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riven approach with AI-powered insights.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70019" y="7564377"/>
            <a:ext cx="2420284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000" strike="noStrike" u="none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oven track record of startup success stories.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54748" y="1372701"/>
            <a:ext cx="402251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Keithston and Partners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976956" y="1324884"/>
            <a:ext cx="293562" cy="293562"/>
          </a:xfrm>
          <a:custGeom>
            <a:avLst/>
            <a:gdLst/>
            <a:ahLst/>
            <a:cxnLst/>
            <a:rect r="r" b="b" t="t" l="l"/>
            <a:pathLst>
              <a:path h="293562" w="293562">
                <a:moveTo>
                  <a:pt x="0" y="0"/>
                </a:moveTo>
                <a:lnTo>
                  <a:pt x="293562" y="0"/>
                </a:lnTo>
                <a:lnTo>
                  <a:pt x="293562" y="293562"/>
                </a:lnTo>
                <a:lnTo>
                  <a:pt x="0" y="2935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94831" y="1268434"/>
            <a:ext cx="8900249" cy="4870864"/>
          </a:xfrm>
          <a:custGeom>
            <a:avLst/>
            <a:gdLst/>
            <a:ahLst/>
            <a:cxnLst/>
            <a:rect r="r" b="b" t="t" l="l"/>
            <a:pathLst>
              <a:path h="4870864" w="8900249">
                <a:moveTo>
                  <a:pt x="0" y="0"/>
                </a:moveTo>
                <a:lnTo>
                  <a:pt x="8900249" y="0"/>
                </a:lnTo>
                <a:lnTo>
                  <a:pt x="8900249" y="4870864"/>
                </a:lnTo>
                <a:lnTo>
                  <a:pt x="0" y="4870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8181" y="-176945"/>
            <a:ext cx="5291687" cy="1818416"/>
          </a:xfrm>
          <a:custGeom>
            <a:avLst/>
            <a:gdLst/>
            <a:ahLst/>
            <a:cxnLst/>
            <a:rect r="r" b="b" t="t" l="l"/>
            <a:pathLst>
              <a:path h="1818416" w="5291687">
                <a:moveTo>
                  <a:pt x="0" y="0"/>
                </a:moveTo>
                <a:lnTo>
                  <a:pt x="5291687" y="0"/>
                </a:lnTo>
                <a:lnTo>
                  <a:pt x="5291687" y="1818416"/>
                </a:lnTo>
                <a:lnTo>
                  <a:pt x="0" y="1818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770993" y="1329138"/>
            <a:ext cx="7947925" cy="4706302"/>
            <a:chOff x="0" y="0"/>
            <a:chExt cx="1231342" cy="7291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1342" cy="729129"/>
            </a:xfrm>
            <a:custGeom>
              <a:avLst/>
              <a:gdLst/>
              <a:ahLst/>
              <a:cxnLst/>
              <a:rect r="r" b="b" t="t" l="l"/>
              <a:pathLst>
                <a:path h="729129" w="1231342">
                  <a:moveTo>
                    <a:pt x="29222" y="0"/>
                  </a:moveTo>
                  <a:lnTo>
                    <a:pt x="1202119" y="0"/>
                  </a:lnTo>
                  <a:cubicBezTo>
                    <a:pt x="1218258" y="0"/>
                    <a:pt x="1231342" y="13083"/>
                    <a:pt x="1231342" y="29222"/>
                  </a:cubicBezTo>
                  <a:lnTo>
                    <a:pt x="1231342" y="699907"/>
                  </a:lnTo>
                  <a:cubicBezTo>
                    <a:pt x="1231342" y="716046"/>
                    <a:pt x="1218258" y="729129"/>
                    <a:pt x="1202119" y="729129"/>
                  </a:cubicBezTo>
                  <a:lnTo>
                    <a:pt x="29222" y="729129"/>
                  </a:lnTo>
                  <a:cubicBezTo>
                    <a:pt x="13083" y="729129"/>
                    <a:pt x="0" y="716046"/>
                    <a:pt x="0" y="699907"/>
                  </a:cubicBezTo>
                  <a:lnTo>
                    <a:pt x="0" y="29222"/>
                  </a:lnTo>
                  <a:cubicBezTo>
                    <a:pt x="0" y="13083"/>
                    <a:pt x="13083" y="0"/>
                    <a:pt x="29222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363" r="0" b="-63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62797" y="1625563"/>
            <a:ext cx="821282" cy="82128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62797" y="5398580"/>
            <a:ext cx="821282" cy="8212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62797" y="3470242"/>
            <a:ext cx="821282" cy="82128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62797" y="7326918"/>
            <a:ext cx="821282" cy="82128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9E2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50210" y="5235418"/>
            <a:ext cx="5209090" cy="4022882"/>
            <a:chOff x="0" y="0"/>
            <a:chExt cx="1288728" cy="9952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8728" cy="995260"/>
            </a:xfrm>
            <a:custGeom>
              <a:avLst/>
              <a:gdLst/>
              <a:ahLst/>
              <a:cxnLst/>
              <a:rect r="r" b="b" t="t" l="l"/>
              <a:pathLst>
                <a:path h="995260" w="1288728">
                  <a:moveTo>
                    <a:pt x="44587" y="0"/>
                  </a:moveTo>
                  <a:lnTo>
                    <a:pt x="1244141" y="0"/>
                  </a:lnTo>
                  <a:cubicBezTo>
                    <a:pt x="1268766" y="0"/>
                    <a:pt x="1288728" y="19962"/>
                    <a:pt x="1288728" y="44587"/>
                  </a:cubicBezTo>
                  <a:lnTo>
                    <a:pt x="1288728" y="950673"/>
                  </a:lnTo>
                  <a:cubicBezTo>
                    <a:pt x="1288728" y="962498"/>
                    <a:pt x="1284030" y="973839"/>
                    <a:pt x="1275669" y="982201"/>
                  </a:cubicBezTo>
                  <a:cubicBezTo>
                    <a:pt x="1267307" y="990563"/>
                    <a:pt x="1255966" y="995260"/>
                    <a:pt x="1244141" y="995260"/>
                  </a:cubicBezTo>
                  <a:lnTo>
                    <a:pt x="44587" y="995260"/>
                  </a:lnTo>
                  <a:cubicBezTo>
                    <a:pt x="19962" y="995260"/>
                    <a:pt x="0" y="975298"/>
                    <a:pt x="0" y="950673"/>
                  </a:cubicBezTo>
                  <a:lnTo>
                    <a:pt x="0" y="44587"/>
                  </a:lnTo>
                  <a:cubicBezTo>
                    <a:pt x="0" y="19962"/>
                    <a:pt x="19962" y="0"/>
                    <a:pt x="44587" y="0"/>
                  </a:cubicBezTo>
                  <a:close/>
                </a:path>
              </a:pathLst>
            </a:custGeom>
            <a:blipFill>
              <a:blip r:embed="rId7"/>
              <a:stretch>
                <a:fillRect l="-7957" t="0" r="-7957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421957" y="1784722"/>
            <a:ext cx="502963" cy="502963"/>
          </a:xfrm>
          <a:custGeom>
            <a:avLst/>
            <a:gdLst/>
            <a:ahLst/>
            <a:cxnLst/>
            <a:rect r="r" b="b" t="t" l="l"/>
            <a:pathLst>
              <a:path h="502963" w="502963">
                <a:moveTo>
                  <a:pt x="0" y="0"/>
                </a:moveTo>
                <a:lnTo>
                  <a:pt x="502963" y="0"/>
                </a:lnTo>
                <a:lnTo>
                  <a:pt x="502963" y="502964"/>
                </a:lnTo>
                <a:lnTo>
                  <a:pt x="0" y="5029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21957" y="3629401"/>
            <a:ext cx="502963" cy="502963"/>
          </a:xfrm>
          <a:custGeom>
            <a:avLst/>
            <a:gdLst/>
            <a:ahLst/>
            <a:cxnLst/>
            <a:rect r="r" b="b" t="t" l="l"/>
            <a:pathLst>
              <a:path h="502963" w="502963">
                <a:moveTo>
                  <a:pt x="0" y="0"/>
                </a:moveTo>
                <a:lnTo>
                  <a:pt x="502963" y="0"/>
                </a:lnTo>
                <a:lnTo>
                  <a:pt x="502963" y="502964"/>
                </a:lnTo>
                <a:lnTo>
                  <a:pt x="0" y="5029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21957" y="5557739"/>
            <a:ext cx="502963" cy="502963"/>
          </a:xfrm>
          <a:custGeom>
            <a:avLst/>
            <a:gdLst/>
            <a:ahLst/>
            <a:cxnLst/>
            <a:rect r="r" b="b" t="t" l="l"/>
            <a:pathLst>
              <a:path h="502963" w="502963">
                <a:moveTo>
                  <a:pt x="0" y="0"/>
                </a:moveTo>
                <a:lnTo>
                  <a:pt x="502963" y="0"/>
                </a:lnTo>
                <a:lnTo>
                  <a:pt x="502963" y="502964"/>
                </a:lnTo>
                <a:lnTo>
                  <a:pt x="0" y="5029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421957" y="7486078"/>
            <a:ext cx="502963" cy="502963"/>
          </a:xfrm>
          <a:custGeom>
            <a:avLst/>
            <a:gdLst/>
            <a:ahLst/>
            <a:cxnLst/>
            <a:rect r="r" b="b" t="t" l="l"/>
            <a:pathLst>
              <a:path h="502963" w="502963">
                <a:moveTo>
                  <a:pt x="0" y="0"/>
                </a:moveTo>
                <a:lnTo>
                  <a:pt x="502963" y="0"/>
                </a:lnTo>
                <a:lnTo>
                  <a:pt x="502963" y="502963"/>
                </a:lnTo>
                <a:lnTo>
                  <a:pt x="0" y="5029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8700" y="9501670"/>
            <a:ext cx="2808434" cy="965080"/>
          </a:xfrm>
          <a:custGeom>
            <a:avLst/>
            <a:gdLst/>
            <a:ahLst/>
            <a:cxnLst/>
            <a:rect r="r" b="b" t="t" l="l"/>
            <a:pathLst>
              <a:path h="965080" w="2808434">
                <a:moveTo>
                  <a:pt x="0" y="0"/>
                </a:moveTo>
                <a:lnTo>
                  <a:pt x="2808434" y="0"/>
                </a:lnTo>
                <a:lnTo>
                  <a:pt x="2808434" y="965080"/>
                </a:lnTo>
                <a:lnTo>
                  <a:pt x="0" y="965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770993" y="6648610"/>
            <a:ext cx="3041092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25505" y="1969529"/>
            <a:ext cx="292517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15+ years in ven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ture capital and startup strategy.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25505" y="5742546"/>
            <a:ext cx="319541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Tech innovator, background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in AI and SaaS platforms.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25505" y="1476291"/>
            <a:ext cx="352217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Jonathan Patters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25505" y="5249308"/>
            <a:ext cx="30455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Daniel Gallego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25505" y="3814208"/>
            <a:ext cx="292517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Expert in operation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and scaling businesses.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25505" y="7670884"/>
            <a:ext cx="319541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Renowned VCs, angel inve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stors, and industry veterans.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25505" y="3320970"/>
            <a:ext cx="378423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Marceline Anderson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25505" y="7177646"/>
            <a:ext cx="30455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Alfredo Torres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-2063366" y="-1180686"/>
            <a:ext cx="3668158" cy="2007483"/>
          </a:xfrm>
          <a:custGeom>
            <a:avLst/>
            <a:gdLst/>
            <a:ahLst/>
            <a:cxnLst/>
            <a:rect r="r" b="b" t="t" l="l"/>
            <a:pathLst>
              <a:path h="2007483" w="3668158">
                <a:moveTo>
                  <a:pt x="0" y="0"/>
                </a:moveTo>
                <a:lnTo>
                  <a:pt x="3668158" y="0"/>
                </a:lnTo>
                <a:lnTo>
                  <a:pt x="3668158" y="2007483"/>
                </a:lnTo>
                <a:lnTo>
                  <a:pt x="0" y="200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2826" y="1515034"/>
            <a:ext cx="6400140" cy="3754240"/>
            <a:chOff x="0" y="0"/>
            <a:chExt cx="991549" cy="581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549" cy="581630"/>
            </a:xfrm>
            <a:custGeom>
              <a:avLst/>
              <a:gdLst/>
              <a:ahLst/>
              <a:cxnLst/>
              <a:rect r="r" b="b" t="t" l="l"/>
              <a:pathLst>
                <a:path h="581630" w="991549">
                  <a:moveTo>
                    <a:pt x="60482" y="0"/>
                  </a:moveTo>
                  <a:lnTo>
                    <a:pt x="931067" y="0"/>
                  </a:lnTo>
                  <a:cubicBezTo>
                    <a:pt x="964470" y="0"/>
                    <a:pt x="991549" y="27079"/>
                    <a:pt x="991549" y="60482"/>
                  </a:cubicBezTo>
                  <a:lnTo>
                    <a:pt x="991549" y="521148"/>
                  </a:lnTo>
                  <a:cubicBezTo>
                    <a:pt x="991549" y="554551"/>
                    <a:pt x="964470" y="581630"/>
                    <a:pt x="931067" y="581630"/>
                  </a:cubicBezTo>
                  <a:lnTo>
                    <a:pt x="60482" y="581630"/>
                  </a:lnTo>
                  <a:cubicBezTo>
                    <a:pt x="27079" y="581630"/>
                    <a:pt x="0" y="554551"/>
                    <a:pt x="0" y="521148"/>
                  </a:cubicBezTo>
                  <a:lnTo>
                    <a:pt x="0" y="60482"/>
                  </a:lnTo>
                  <a:cubicBezTo>
                    <a:pt x="0" y="27079"/>
                    <a:pt x="27079" y="0"/>
                    <a:pt x="6048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790" r="0" b="-67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6452" y="1515034"/>
            <a:ext cx="8279696" cy="4489987"/>
            <a:chOff x="0" y="0"/>
            <a:chExt cx="1282742" cy="6956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42" cy="695616"/>
            </a:xfrm>
            <a:custGeom>
              <a:avLst/>
              <a:gdLst/>
              <a:ahLst/>
              <a:cxnLst/>
              <a:rect r="r" b="b" t="t" l="l"/>
              <a:pathLst>
                <a:path h="695616" w="1282742">
                  <a:moveTo>
                    <a:pt x="46752" y="0"/>
                  </a:moveTo>
                  <a:lnTo>
                    <a:pt x="1235989" y="0"/>
                  </a:lnTo>
                  <a:cubicBezTo>
                    <a:pt x="1248389" y="0"/>
                    <a:pt x="1260280" y="4926"/>
                    <a:pt x="1269048" y="13693"/>
                  </a:cubicBezTo>
                  <a:cubicBezTo>
                    <a:pt x="1277816" y="22461"/>
                    <a:pt x="1282742" y="34353"/>
                    <a:pt x="1282742" y="46752"/>
                  </a:cubicBezTo>
                  <a:lnTo>
                    <a:pt x="1282742" y="648864"/>
                  </a:lnTo>
                  <a:cubicBezTo>
                    <a:pt x="1282742" y="674685"/>
                    <a:pt x="1261810" y="695616"/>
                    <a:pt x="1235989" y="695616"/>
                  </a:cubicBezTo>
                  <a:lnTo>
                    <a:pt x="46752" y="695616"/>
                  </a:lnTo>
                  <a:cubicBezTo>
                    <a:pt x="34353" y="695616"/>
                    <a:pt x="22461" y="690691"/>
                    <a:pt x="13693" y="681923"/>
                  </a:cubicBezTo>
                  <a:cubicBezTo>
                    <a:pt x="4926" y="673155"/>
                    <a:pt x="0" y="661263"/>
                    <a:pt x="0" y="648864"/>
                  </a:cubicBezTo>
                  <a:lnTo>
                    <a:pt x="0" y="46752"/>
                  </a:lnTo>
                  <a:cubicBezTo>
                    <a:pt x="0" y="34353"/>
                    <a:pt x="4926" y="22461"/>
                    <a:pt x="13693" y="13693"/>
                  </a:cubicBezTo>
                  <a:cubicBezTo>
                    <a:pt x="22461" y="4926"/>
                    <a:pt x="34353" y="0"/>
                    <a:pt x="4675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429" r="0" b="-1142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15579" y="3932131"/>
            <a:ext cx="5030631" cy="2422739"/>
            <a:chOff x="0" y="0"/>
            <a:chExt cx="1324940" cy="638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4940" cy="638088"/>
            </a:xfrm>
            <a:custGeom>
              <a:avLst/>
              <a:gdLst/>
              <a:ahLst/>
              <a:cxnLst/>
              <a:rect r="r" b="b" t="t" l="l"/>
              <a:pathLst>
                <a:path h="638088" w="1324940">
                  <a:moveTo>
                    <a:pt x="46169" y="0"/>
                  </a:moveTo>
                  <a:lnTo>
                    <a:pt x="1278771" y="0"/>
                  </a:lnTo>
                  <a:cubicBezTo>
                    <a:pt x="1304269" y="0"/>
                    <a:pt x="1324940" y="20670"/>
                    <a:pt x="1324940" y="46169"/>
                  </a:cubicBezTo>
                  <a:lnTo>
                    <a:pt x="1324940" y="591919"/>
                  </a:lnTo>
                  <a:cubicBezTo>
                    <a:pt x="1324940" y="604164"/>
                    <a:pt x="1320076" y="615907"/>
                    <a:pt x="1311417" y="624565"/>
                  </a:cubicBezTo>
                  <a:cubicBezTo>
                    <a:pt x="1302759" y="633223"/>
                    <a:pt x="1291016" y="638088"/>
                    <a:pt x="1278771" y="638088"/>
                  </a:cubicBezTo>
                  <a:lnTo>
                    <a:pt x="46169" y="638088"/>
                  </a:lnTo>
                  <a:cubicBezTo>
                    <a:pt x="20670" y="638088"/>
                    <a:pt x="0" y="617417"/>
                    <a:pt x="0" y="591919"/>
                  </a:cubicBezTo>
                  <a:lnTo>
                    <a:pt x="0" y="46169"/>
                  </a:lnTo>
                  <a:cubicBezTo>
                    <a:pt x="0" y="20670"/>
                    <a:pt x="20670" y="0"/>
                    <a:pt x="46169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24940" cy="704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15579" y="7097664"/>
            <a:ext cx="821282" cy="82128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0A0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298826" y="7260648"/>
            <a:ext cx="454789" cy="495314"/>
          </a:xfrm>
          <a:custGeom>
            <a:avLst/>
            <a:gdLst/>
            <a:ahLst/>
            <a:cxnLst/>
            <a:rect r="r" b="b" t="t" l="l"/>
            <a:pathLst>
              <a:path h="495314" w="454789">
                <a:moveTo>
                  <a:pt x="0" y="0"/>
                </a:moveTo>
                <a:lnTo>
                  <a:pt x="454789" y="0"/>
                </a:lnTo>
                <a:lnTo>
                  <a:pt x="454789" y="495314"/>
                </a:lnTo>
                <a:lnTo>
                  <a:pt x="0" y="49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19876" y="7441630"/>
            <a:ext cx="4574090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To become the leading global eco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system builder that empowers founders to turn ideas into impactful businesses.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9876" y="6948392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99063">
            <a:off x="-636033" y="-363807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0" y="0"/>
                </a:moveTo>
                <a:lnTo>
                  <a:pt x="6180931" y="0"/>
                </a:lnTo>
                <a:lnTo>
                  <a:pt x="6180931" y="3678616"/>
                </a:lnTo>
                <a:lnTo>
                  <a:pt x="0" y="3678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299063">
            <a:off x="12653489" y="7083331"/>
            <a:ext cx="6180931" cy="3678616"/>
          </a:xfrm>
          <a:custGeom>
            <a:avLst/>
            <a:gdLst/>
            <a:ahLst/>
            <a:cxnLst/>
            <a:rect r="r" b="b" t="t" l="l"/>
            <a:pathLst>
              <a:path h="3678616" w="6180931">
                <a:moveTo>
                  <a:pt x="6180931" y="3678616"/>
                </a:moveTo>
                <a:lnTo>
                  <a:pt x="0" y="3678616"/>
                </a:lnTo>
                <a:lnTo>
                  <a:pt x="0" y="0"/>
                </a:lnTo>
                <a:lnTo>
                  <a:pt x="6180931" y="0"/>
                </a:lnTo>
                <a:lnTo>
                  <a:pt x="6180931" y="3678616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6715" y="1028700"/>
            <a:ext cx="871092" cy="144126"/>
          </a:xfrm>
          <a:custGeom>
            <a:avLst/>
            <a:gdLst/>
            <a:ahLst/>
            <a:cxnLst/>
            <a:rect r="r" b="b" t="t" l="l"/>
            <a:pathLst>
              <a:path h="144126" w="871092">
                <a:moveTo>
                  <a:pt x="0" y="0"/>
                </a:moveTo>
                <a:lnTo>
                  <a:pt x="871092" y="0"/>
                </a:lnTo>
                <a:lnTo>
                  <a:pt x="871092" y="144126"/>
                </a:lnTo>
                <a:lnTo>
                  <a:pt x="0" y="144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30443" y="1028700"/>
            <a:ext cx="1029011" cy="1109718"/>
          </a:xfrm>
          <a:custGeom>
            <a:avLst/>
            <a:gdLst/>
            <a:ahLst/>
            <a:cxnLst/>
            <a:rect r="r" b="b" t="t" l="l"/>
            <a:pathLst>
              <a:path h="1109718" w="1029011">
                <a:moveTo>
                  <a:pt x="0" y="0"/>
                </a:moveTo>
                <a:lnTo>
                  <a:pt x="1029011" y="0"/>
                </a:lnTo>
                <a:lnTo>
                  <a:pt x="1029011" y="1109718"/>
                </a:lnTo>
                <a:lnTo>
                  <a:pt x="0" y="11097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42084" y="6510163"/>
            <a:ext cx="4370630" cy="208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Ask &amp; Vision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9581" y="4643994"/>
            <a:ext cx="4139542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Seeking $5M seed round to develop the platform, expand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startup programs, and scale operations.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9581" y="4150756"/>
            <a:ext cx="327490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Funding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Ask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5400000">
            <a:off x="5803462" y="8359922"/>
            <a:ext cx="618506" cy="1633073"/>
          </a:xfrm>
          <a:custGeom>
            <a:avLst/>
            <a:gdLst/>
            <a:ahLst/>
            <a:cxnLst/>
            <a:rect r="r" b="b" t="t" l="l"/>
            <a:pathLst>
              <a:path h="1633073" w="618506">
                <a:moveTo>
                  <a:pt x="0" y="0"/>
                </a:moveTo>
                <a:lnTo>
                  <a:pt x="618506" y="0"/>
                </a:lnTo>
                <a:lnTo>
                  <a:pt x="618506" y="1633072"/>
                </a:lnTo>
                <a:lnTo>
                  <a:pt x="0" y="1633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12585229" y="-816536"/>
            <a:ext cx="618506" cy="1633073"/>
          </a:xfrm>
          <a:custGeom>
            <a:avLst/>
            <a:gdLst/>
            <a:ahLst/>
            <a:cxnLst/>
            <a:rect r="r" b="b" t="t" l="l"/>
            <a:pathLst>
              <a:path h="1633073" w="618506">
                <a:moveTo>
                  <a:pt x="0" y="0"/>
                </a:moveTo>
                <a:lnTo>
                  <a:pt x="618506" y="0"/>
                </a:lnTo>
                <a:lnTo>
                  <a:pt x="618506" y="1633072"/>
                </a:lnTo>
                <a:lnTo>
                  <a:pt x="0" y="1633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DAHMK1PHDf8</dc:identifier>
  <dcterms:modified xsi:type="dcterms:W3CDTF">2011-08-01T06:04:30Z</dcterms:modified>
  <cp:revision>1</cp:revision>
  <dc:title>Black and White Modern Startups Pitch Deck Presentation</dc:title>
</cp:coreProperties>
</file>